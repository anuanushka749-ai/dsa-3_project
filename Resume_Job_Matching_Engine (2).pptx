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F304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2FA6A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SUBMISSION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Résumé–Job Matching and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Talent-Marketplace Engine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– 3 (25CS2103E)  |  A.Y. 2026–2027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987552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52628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0F3049"/>
          </a:solidFill>
          <a:ln w="12700">
            <a:solidFill>
              <a:srgbClr val="2248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663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4983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Ms. K. Chandusha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828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Anushka (2520090168)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(Deemed to be University)  |  Section: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 provides ranked recommendations, skill-gap analysis, and transparent matching explanations.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B3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F3049"/>
          </a:solidFill>
          <a:ln/>
        </p:spPr>
      </p:sp>
      <p:pic>
        <p:nvPicPr>
          <p:cNvPr id="7" name="Image 0" descr="icon_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743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66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Efficiency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manual, inconsistent process of reviewing large résumé volumes to speed up hiring cycles.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219456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B3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F3049"/>
          </a:solidFill>
          <a:ln/>
        </p:spPr>
      </p:sp>
      <p:pic>
        <p:nvPicPr>
          <p:cNvPr id="12" name="Image 1" descr="icon_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743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566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Intelligence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526280" y="402336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terms (e.g., "ML" vs "Machine Learning") to ensure semantic matching and compatibility scoring.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863840" y="219456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B36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83880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F3049"/>
          </a:solidFill>
          <a:ln/>
        </p:spPr>
      </p:sp>
      <p:pic>
        <p:nvPicPr>
          <p:cNvPr id="17" name="Image 2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7432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3566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Optimization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183880" y="402336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graph matching and set-cover algorithms for optimal candidate assignment and team formation.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Hiring Challenge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3049"/>
          </a:solidFill>
          <a:ln/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112264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00253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are slow and labor-intensive.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3049"/>
          </a:solidFill>
          <a:ln/>
        </p:spPr>
      </p:sp>
      <p:pic>
        <p:nvPicPr>
          <p:cNvPr id="9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67919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56946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bias often leads to inconsistent candidate screening.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1912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3049"/>
          </a:solidFill>
          <a:ln/>
        </p:spPr>
      </p:sp>
      <p:pic>
        <p:nvPicPr>
          <p:cNvPr id="12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24612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313639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is limited when handling thousands of applicants.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48640" y="3977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548640" y="443484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engine that indexes documents, extracts core competencies, and mathematically calculates the "best fit" for any role or organizational project.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766560" y="1554480"/>
            <a:ext cx="4892040" cy="4480560"/>
          </a:xfrm>
          <a:prstGeom prst="roundRect">
            <a:avLst>
              <a:gd name="adj" fmla="val 2449"/>
            </a:avLst>
          </a:prstGeom>
          <a:solidFill>
            <a:srgbClr val="0A1F2E"/>
          </a:solidFill>
          <a:ln/>
        </p:spPr>
      </p:sp>
      <p:sp>
        <p:nvSpPr>
          <p:cNvPr id="17" name="Shape 12"/>
          <p:cNvSpPr/>
          <p:nvPr/>
        </p:nvSpPr>
        <p:spPr>
          <a:xfrm>
            <a:off x="8412480" y="1783080"/>
            <a:ext cx="3383280" cy="3383280"/>
          </a:xfrm>
          <a:prstGeom prst="ellipse">
            <a:avLst/>
          </a:prstGeom>
          <a:solidFill>
            <a:srgbClr val="0F3049">
              <a:alpha val="7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7772400" y="3977640"/>
            <a:ext cx="2194560" cy="1234440"/>
          </a:xfrm>
          <a:prstGeom prst="roundRect">
            <a:avLst>
              <a:gd name="adj" fmla="val 14815"/>
            </a:avLst>
          </a:prstGeom>
          <a:solidFill>
            <a:srgbClr val="163C57"/>
          </a:solidFill>
          <a:ln/>
        </p:spPr>
      </p:sp>
      <p:pic>
        <p:nvPicPr>
          <p:cNvPr id="19" name="Image 3" descr="icon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142232"/>
            <a:ext cx="365760" cy="365760"/>
          </a:xfrm>
          <a:prstGeom prst="rect">
            <a:avLst/>
          </a:prstGeom>
        </p:spPr>
      </p:pic>
      <p:pic>
        <p:nvPicPr>
          <p:cNvPr id="20" name="Image 4" descr="icon_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286000"/>
            <a:ext cx="640080" cy="6400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40880" y="53492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Best-Fit Detection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1: Information Extraction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indexes both résumés and job descriptions using Inverted Indexes for rapid retrieval.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77440"/>
            <a:ext cx="9875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Normalization: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terms (ML, Machine Learning, Predictive Modeling) are mapped to a unified taxonomy using string-matching and hash-map lookups. This ensures candidates aren't penalized for specific phrasing, focusing on actual competency instead.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3337560" cy="2148840"/>
          </a:xfrm>
          <a:prstGeom prst="roundRect">
            <a:avLst>
              <a:gd name="adj" fmla="val 4255"/>
            </a:avLst>
          </a:prstGeom>
          <a:solidFill>
            <a:srgbClr val="0A1F2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43434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8B84B"/>
          </a:solidFill>
          <a:ln/>
        </p:spPr>
      </p:sp>
      <p:pic>
        <p:nvPicPr>
          <p:cNvPr id="9" name="Image 0" descr="icon_fi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489704"/>
            <a:ext cx="393192" cy="393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Extraction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2960" y="53949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converts résumé formats into editable text for analysis.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06240" y="4069080"/>
            <a:ext cx="3337560" cy="2148840"/>
          </a:xfrm>
          <a:prstGeom prst="roundRect">
            <a:avLst>
              <a:gd name="adj" fmla="val 4255"/>
            </a:avLst>
          </a:prstGeom>
          <a:solidFill>
            <a:srgbClr val="0A1F2E"/>
          </a:solidFill>
          <a:ln/>
        </p:spPr>
      </p:sp>
      <p:sp>
        <p:nvSpPr>
          <p:cNvPr id="14" name="Shape 11"/>
          <p:cNvSpPr/>
          <p:nvPr/>
        </p:nvSpPr>
        <p:spPr>
          <a:xfrm>
            <a:off x="4480560" y="43434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8B84B"/>
          </a:solidFill>
          <a:ln/>
        </p:spPr>
      </p:sp>
      <p:pic>
        <p:nvPicPr>
          <p:cNvPr id="15" name="Image 1" descr="icon_cpu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4489704"/>
            <a:ext cx="393192" cy="3931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480560" y="5029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Processing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480560" y="53949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identifies patterns, job titles, dates, and key phrases.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863840" y="4069080"/>
            <a:ext cx="3337560" cy="2148840"/>
          </a:xfrm>
          <a:prstGeom prst="roundRect">
            <a:avLst>
              <a:gd name="adj" fmla="val 4255"/>
            </a:avLst>
          </a:prstGeom>
          <a:solidFill>
            <a:srgbClr val="0A1F2E"/>
          </a:solidFill>
          <a:ln/>
        </p:spPr>
      </p:sp>
      <p:sp>
        <p:nvSpPr>
          <p:cNvPr id="20" name="Shape 16"/>
          <p:cNvSpPr/>
          <p:nvPr/>
        </p:nvSpPr>
        <p:spPr>
          <a:xfrm>
            <a:off x="8138160" y="43434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8B84B"/>
          </a:solidFill>
          <a:ln/>
        </p:spPr>
      </p:sp>
      <p:pic>
        <p:nvPicPr>
          <p:cNvPr id="21" name="Image 2" descr="icon_lay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489704"/>
            <a:ext cx="393192" cy="3931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068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138160" y="5029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Structuring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138160" y="53949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organizes extracted data into categories like skills and experience.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2: Compatibility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5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7465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184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Compatibility Score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34440" y="1956816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of similarity between skill sets, experience level, and role requirements.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9" name="Image 1" descr="icon_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79806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70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Priority Queues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34440" y="3008376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maintain a live ranking of candidates based on their dynamic relevance scores.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13" name="Image 2" descr="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84962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216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Transparency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34440" y="4059936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provides explanations for why a match was made, identifying specific overlaps.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0840" y="155448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2B36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04088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Matching Pattern Flow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183880" y="2286000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0F3049"/>
          </a:solidFill>
          <a:ln/>
        </p:spPr>
      </p:sp>
      <p:sp>
        <p:nvSpPr>
          <p:cNvPr id="19" name="Text 14"/>
          <p:cNvSpPr/>
          <p:nvPr/>
        </p:nvSpPr>
        <p:spPr>
          <a:xfrm>
            <a:off x="818388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pattern fits?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89720" y="2926080"/>
            <a:ext cx="-1463040" cy="1234440"/>
          </a:xfrm>
          <a:prstGeom prst="line">
            <a:avLst/>
          </a:prstGeom>
          <a:noFill/>
          <a:ln w="15875">
            <a:solidFill>
              <a:srgbClr val="B9C4C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49440" y="41605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5F7F8"/>
          </a:solidFill>
          <a:ln w="19050">
            <a:solidFill>
              <a:srgbClr val="2FA6A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022592" y="425196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022592" y="46177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→ C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9189720" y="2926080"/>
            <a:ext cx="0" cy="1234440"/>
          </a:xfrm>
          <a:prstGeom prst="line">
            <a:avLst/>
          </a:prstGeom>
          <a:noFill/>
          <a:ln w="15875">
            <a:solidFill>
              <a:srgbClr val="B9C4C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412480" y="41605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5F7F8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85632" y="425196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485632" y="46177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+ C at once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9189720" y="2926080"/>
            <a:ext cx="1463040" cy="1234440"/>
          </a:xfrm>
          <a:prstGeom prst="line">
            <a:avLst/>
          </a:prstGeom>
          <a:noFill/>
          <a:ln w="15875">
            <a:solidFill>
              <a:srgbClr val="B9C4C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875520" y="416052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5F7F8"/>
          </a:solidFill>
          <a:ln w="19050">
            <a:solidFill>
              <a:srgbClr val="C0655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948672" y="425196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Loop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948672" y="46177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then retry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Boolean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697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keyword search. Discarded highly qualified candidates if exact phrasing was missing (e.g., missed "JS" for "JavaScript").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182880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B3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1488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488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2697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Vector Space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26280" y="3291840"/>
            <a:ext cx="2697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TF-IDF and Cosine Similarity. Better at catching topical relevance but struggled with context.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182880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B3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21488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1488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83880" y="2697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Semantic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183880" y="3291840"/>
            <a:ext cx="2697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NLP and Inverted Indexing. Focus on talent marketplace optimal assignment and group formation.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solidFill>
            <a:srgbClr val="0A1F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6916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Software / Tool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0515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24028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(Primary engine logic)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0515600" cy="777240"/>
          </a:xfrm>
          <a:prstGeom prst="rect">
            <a:avLst/>
          </a:prstGeom>
          <a:solidFill>
            <a:srgbClr val="EEF2F3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17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Libraries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301752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SpaCy, NLTK (Tokenization, Lemmatization)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0515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94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79476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Implementations (Hash Maps, Inverted Indexes, Priority Queues)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0515600" cy="777240"/>
          </a:xfrm>
          <a:prstGeom prst="rect">
            <a:avLst/>
          </a:prstGeom>
          <a:solidFill>
            <a:srgbClr val="EEF2F3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720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457200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or MongoDB (Storing indexed profiles)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0515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349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53492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/ PyCharm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5" name="Image 0" descr="icon_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9842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CPU (Intel i5/i7 or AMD Ryzen 5+) for parallel parsing.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9" name="Image 1" descr="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79806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Memory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29900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8GB RAM minimum (16GB recommended for large index processing).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13" name="Image 2" descr="icon_dr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80390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Storage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399592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256GB SSD (Fast I/O for inverted index lookups).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709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049"/>
          </a:solidFill>
          <a:ln/>
        </p:spPr>
      </p:sp>
      <p:pic>
        <p:nvPicPr>
          <p:cNvPr id="17" name="Image 3" descr="icon_moni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80974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Display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50017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Full HD (1920×1080) for interface testing.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720840" y="169164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0A1F2E"/>
          </a:solidFill>
          <a:ln/>
        </p:spPr>
      </p:sp>
      <p:sp>
        <p:nvSpPr>
          <p:cNvPr id="21" name="Shape 15"/>
          <p:cNvSpPr/>
          <p:nvPr/>
        </p:nvSpPr>
        <p:spPr>
          <a:xfrm>
            <a:off x="7086600" y="20116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E8B84B"/>
          </a:solidFill>
          <a:ln/>
        </p:spPr>
      </p:sp>
      <p:pic>
        <p:nvPicPr>
          <p:cNvPr id="22" name="Image 4" descr="icon_databas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2139696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86600" y="27432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Scalability Note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7086600" y="320040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production-scale deployment, the system can be hosted on AWS/Azure to utilize elastic compute for peak application periods.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Talent Marketplace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0A1F2E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194560"/>
            <a:ext cx="3383280" cy="3383280"/>
          </a:xfrm>
          <a:prstGeom prst="ellipse">
            <a:avLst/>
          </a:prstGeom>
          <a:solidFill>
            <a:srgbClr val="0F304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265176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7" name="Image 0" descr="icon_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4016" y="2779776"/>
            <a:ext cx="429768" cy="4297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66160" y="246888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9" name="Image 1" descr="icon_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596896"/>
            <a:ext cx="429768" cy="4297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554480" y="374904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11" name="Image 2" descr="icon_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3877056"/>
            <a:ext cx="429768" cy="4297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206240" y="365760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13" name="Image 3" descr="icon_us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3785616"/>
            <a:ext cx="429768" cy="4297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651760" y="457200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15" name="Image 4" descr="icon_user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9776" y="4700016"/>
            <a:ext cx="429768" cy="429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566160" y="4663440"/>
            <a:ext cx="685800" cy="685800"/>
          </a:xfrm>
          <a:prstGeom prst="ellipse">
            <a:avLst/>
          </a:prstGeom>
          <a:solidFill>
            <a:srgbClr val="E8B84B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17" name="Image 5" descr="icon_user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4791456"/>
            <a:ext cx="429768" cy="429768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2788920" y="3566160"/>
            <a:ext cx="822960" cy="822960"/>
          </a:xfrm>
          <a:prstGeom prst="ellipse">
            <a:avLst/>
          </a:prstGeom>
          <a:solidFill>
            <a:srgbClr val="2FA6A0"/>
          </a:solidFill>
          <a:ln w="25400">
            <a:solidFill>
              <a:srgbClr val="0A1F2E"/>
            </a:solidFill>
            <a:prstDash val="solid"/>
          </a:ln>
        </p:spPr>
      </p:sp>
      <p:pic>
        <p:nvPicPr>
          <p:cNvPr id="19" name="Image 6" descr="icon_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3749040"/>
            <a:ext cx="457200" cy="457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943600" y="1691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Optimal Role Assignment</a:t>
            </a:r>
            <a:endParaRPr lang="en-US" sz="1800" dirty="0"/>
          </a:p>
        </p:txBody>
      </p:sp>
      <p:sp>
        <p:nvSpPr>
          <p:cNvPr id="21" name="Text 12"/>
          <p:cNvSpPr/>
          <p:nvPr/>
        </p:nvSpPr>
        <p:spPr>
          <a:xfrm>
            <a:off x="5943600" y="214884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prevents "Double Allocation" by using graph-matching algorithms to assign candidates to multiple roles efficiently.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5943600" y="34290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Team Formation</a:t>
            </a:r>
            <a:endParaRPr lang="en-US" sz="1800" dirty="0"/>
          </a:p>
        </p:txBody>
      </p:sp>
      <p:sp>
        <p:nvSpPr>
          <p:cNvPr id="23" name="Text 14"/>
          <p:cNvSpPr/>
          <p:nvPr/>
        </p:nvSpPr>
        <p:spPr>
          <a:xfrm>
            <a:off x="5943600" y="38862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Set Cover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skills required to form a high-performing project team.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5943600" y="480060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EAF4F3"/>
          </a:solidFill>
          <a:ln/>
        </p:spPr>
      </p:sp>
      <p:sp>
        <p:nvSpPr>
          <p:cNvPr id="25" name="Text 16"/>
          <p:cNvSpPr/>
          <p:nvPr/>
        </p:nvSpPr>
        <p:spPr>
          <a:xfrm>
            <a:off x="6172200" y="48006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every required project skill is covered by the smallest, most efficient group of candidates.</a:t>
            </a:r>
            <a:endParaRPr lang="en-US" sz="1250" dirty="0"/>
          </a:p>
        </p:txBody>
      </p:sp>
      <p:sp>
        <p:nvSpPr>
          <p:cNvPr id="26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Performance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Speed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2194560"/>
            <a:ext cx="7406640" cy="502920"/>
          </a:xfrm>
          <a:prstGeom prst="roundRect">
            <a:avLst>
              <a:gd name="adj" fmla="val 18182"/>
            </a:avLst>
          </a:prstGeom>
          <a:solidFill>
            <a:srgbClr val="E3E8E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2194560"/>
            <a:ext cx="5332781" cy="502920"/>
          </a:xfrm>
          <a:prstGeom prst="roundRect">
            <a:avLst>
              <a:gd name="adj" fmla="val 18182"/>
            </a:avLst>
          </a:prstGeom>
          <a:solidFill>
            <a:srgbClr val="2FA6A0"/>
          </a:solidFill>
          <a:ln/>
        </p:spPr>
      </p:sp>
      <p:sp>
        <p:nvSpPr>
          <p:cNvPr id="7" name="Text 5"/>
          <p:cNvSpPr/>
          <p:nvPr/>
        </p:nvSpPr>
        <p:spPr>
          <a:xfrm>
            <a:off x="6155741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 Faster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3154680"/>
            <a:ext cx="7406640" cy="502920"/>
          </a:xfrm>
          <a:prstGeom prst="roundRect">
            <a:avLst>
              <a:gd name="adj" fmla="val 18182"/>
            </a:avLst>
          </a:prstGeom>
          <a:solidFill>
            <a:srgbClr val="E3E8E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3154680"/>
            <a:ext cx="7406640" cy="502920"/>
          </a:xfrm>
          <a:prstGeom prst="roundRect">
            <a:avLst>
              <a:gd name="adj" fmla="val 18182"/>
            </a:avLst>
          </a:prstGeom>
          <a:solidFill>
            <a:srgbClr val="E8B84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3154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(Rule-based)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Coverage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4114800"/>
            <a:ext cx="7406640" cy="502920"/>
          </a:xfrm>
          <a:prstGeom prst="roundRect">
            <a:avLst>
              <a:gd name="adj" fmla="val 18182"/>
            </a:avLst>
          </a:prstGeom>
          <a:solidFill>
            <a:srgbClr val="E3E8EA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4114800"/>
            <a:ext cx="6814109" cy="502920"/>
          </a:xfrm>
          <a:prstGeom prst="roundRect">
            <a:avLst>
              <a:gd name="adj" fmla="val 18182"/>
            </a:avLst>
          </a:prstGeom>
          <a:solidFill>
            <a:srgbClr val="C0655A"/>
          </a:solidFill>
          <a:ln/>
        </p:spPr>
      </p:sp>
      <p:sp>
        <p:nvSpPr>
          <p:cNvPr id="15" name="Text 13"/>
          <p:cNvSpPr/>
          <p:nvPr/>
        </p:nvSpPr>
        <p:spPr>
          <a:xfrm>
            <a:off x="7637069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Match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A1F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significantly reduces the "Time-to-Hire" metric compared to manual screening.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Scope &amp;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FA6A0"/>
          </a:solidFill>
          <a:ln/>
        </p:spPr>
      </p:sp>
      <p:pic>
        <p:nvPicPr>
          <p:cNvPr id="6" name="Image 0" descr="icon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60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Predictive Analytics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candidates to "Success Profiles" based on historical performance data.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06240" y="201168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B3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3774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FA6A0"/>
          </a:solidFill>
          <a:ln/>
        </p:spPr>
      </p:sp>
      <p:pic>
        <p:nvPicPr>
          <p:cNvPr id="11" name="Image 1" descr="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560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383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Bias Mitigation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526280" y="39319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"Blind Screening" modes to hide sensitive demographic data.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63840" y="201168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27000" dist="38100" dir="5400000">
              <a:srgbClr val="1A2B3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23774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FA6A0"/>
          </a:solidFill>
          <a:ln/>
        </p:spPr>
      </p:sp>
      <p:pic>
        <p:nvPicPr>
          <p:cNvPr id="16" name="Image 2" descr="icon_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5603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3383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324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Multilingual Support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183880" y="39319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matching logic to global résumé formats and languages.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0F304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2FA6A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2860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18304" y="4023360"/>
            <a:ext cx="274320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Résumé–Job Matching and Talent-Marketplace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Bachupally  |  Team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2026-08-18T03:32:37Z</dcterms:created>
  <dcterms:modified xsi:type="dcterms:W3CDTF">2026-08-18T03:32:37Z</dcterms:modified>
</cp:coreProperties>
</file>